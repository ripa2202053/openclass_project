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103120"/>
            <a:ext cx="5669280" cy="5669280"/>
          </a:xfrm>
          <a:prstGeom prst="ellipse">
            <a:avLst/>
          </a:prstGeom>
          <a:solidFill>
            <a:srgbClr val="3E7CB1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572000"/>
            <a:ext cx="4754880" cy="4754880"/>
          </a:xfrm>
          <a:prstGeom prst="ellipse">
            <a:avLst/>
          </a:prstGeom>
          <a:solidFill>
            <a:srgbClr val="E0A03E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PEDAGOGY AND ASSESSMENT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BLENDED LEARNING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34290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A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Designing Teaching and Evaluation for Blended Classrooms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4343400"/>
            <a:ext cx="4206240" cy="1371600"/>
          </a:xfrm>
          <a:prstGeom prst="rect">
            <a:avLst>
              <a:gd name="adj" fmla="val 53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452628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E7C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[Your Name]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E7C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[Your ID]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E7C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[Your Section]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1F2A4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A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91640" y="171907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Foundations of Blended Learning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91640" y="214884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Definitions, rationale, and core models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1F2A44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834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A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91640" y="281635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Pedagogical Approaches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91640" y="324612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theories and the teacher's evolving role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93192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1F2A44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931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A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91640" y="391363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Strategies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434340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Formative and summative approaches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502920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1F2A44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029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A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91640" y="501091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Best Practices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91640" y="54406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Equity, integrity, and practical guidance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Pedagogy and Assessment in Blended Learning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85855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Blended Learning?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4F6F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9164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instructional approach that intentionally combines face-to-face classroom teaching with online learning activities, giving students some control over the time, place, path, and pace of their learning.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108960"/>
            <a:ext cx="3429000" cy="2194560"/>
          </a:xfrm>
          <a:prstGeom prst="roundRect">
            <a:avLst>
              <a:gd name="adj" fmla="val 3750"/>
            </a:avLst>
          </a:prstGeom>
          <a:solidFill>
            <a:srgbClr val="F4F6F8"/>
          </a:solidFill>
          <a:ln/>
          <a:effectLst>
            <a:outerShdw sx="100000" sy="100000" kx="0" ky="0" algn="bl" rotWithShape="0" blurRad="76200" dist="25400" dir="5400000">
              <a:srgbClr val="999999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32918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Face-to-Face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376732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In-person instruction, discussion, and hands-on activity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0" y="3108960"/>
            <a:ext cx="3429000" cy="2194560"/>
          </a:xfrm>
          <a:prstGeom prst="roundRect">
            <a:avLst>
              <a:gd name="adj" fmla="val 3750"/>
            </a:avLst>
          </a:prstGeom>
          <a:solidFill>
            <a:srgbClr val="F4F6F8"/>
          </a:solidFill>
          <a:ln/>
          <a:effectLst>
            <a:outerShdw sx="100000" sy="100000" kx="0" ky="0" algn="bl" rotWithShape="0" blurRad="76200" dist="25400" dir="5400000">
              <a:srgbClr val="999999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26280" y="32918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Learning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26280" y="376732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content, self-paced tasks, and virtual interaction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955280" y="3108960"/>
            <a:ext cx="3429000" cy="2194560"/>
          </a:xfrm>
          <a:prstGeom prst="roundRect">
            <a:avLst>
              <a:gd name="adj" fmla="val 3750"/>
            </a:avLst>
          </a:prstGeom>
          <a:solidFill>
            <a:srgbClr val="F4F6F8"/>
          </a:solidFill>
          <a:ln/>
          <a:effectLst>
            <a:outerShdw sx="100000" sy="100000" kx="0" ky="0" algn="bl" rotWithShape="0" blurRad="76200" dist="25400" dir="5400000">
              <a:srgbClr val="999999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183880" y="32918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Learner Control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83880" y="376732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Choice over pace, path, or place within course design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Pedagogy and Assessment in Blended Learning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85855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Use Blended Learning?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764792"/>
            <a:ext cx="365760" cy="365760"/>
          </a:xfrm>
          <a:prstGeom prst="ellipse">
            <a:avLst/>
          </a:prstGeom>
          <a:solidFill>
            <a:srgbClr val="E0A03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764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43000" y="17373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Flexibility in when and where students engage with content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26480" y="1764792"/>
            <a:ext cx="365760" cy="365760"/>
          </a:xfrm>
          <a:prstGeom prst="ellipse">
            <a:avLst/>
          </a:prstGeom>
          <a:solidFill>
            <a:srgbClr val="E0A03E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0" y="1764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29400" y="17373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pacing suited to individual learner needs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816352"/>
            <a:ext cx="365760" cy="365760"/>
          </a:xfrm>
          <a:prstGeom prst="ellipse">
            <a:avLst/>
          </a:prstGeom>
          <a:solidFill>
            <a:srgbClr val="E0A03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816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27889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to richer, multimedia learning resources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2816352"/>
            <a:ext cx="365760" cy="365760"/>
          </a:xfrm>
          <a:prstGeom prst="ellipse">
            <a:avLst/>
          </a:prstGeom>
          <a:solidFill>
            <a:srgbClr val="E0A03E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2816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29400" y="27889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engagement through varied activity types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867912"/>
            <a:ext cx="365760" cy="365760"/>
          </a:xfrm>
          <a:prstGeom prst="ellipse">
            <a:avLst/>
          </a:prstGeom>
          <a:solidFill>
            <a:srgbClr val="E0A03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867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38404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 use of face-to-face time for active learning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Pedagogy and Assessment in Blended Learning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185855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of Blended Learning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5257800" cy="2148840"/>
          </a:xfrm>
          <a:prstGeom prst="roundRect">
            <a:avLst>
              <a:gd name="adj" fmla="val 3830"/>
            </a:avLst>
          </a:prstGeom>
          <a:solidFill>
            <a:srgbClr val="F4F6F8"/>
          </a:solidFill>
          <a:ln/>
          <a:effectLst>
            <a:outerShdw sx="100000" sy="100000" kx="0" ky="0" algn="bl" rotWithShape="0" blurRad="76200" dist="25400" dir="5400000">
              <a:srgbClr val="999999">
                <a:alpha val="2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9202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Rotation Model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2395728"/>
            <a:ext cx="4800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rotate on a fixed schedule between online and face-to-face stations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263640" y="1737360"/>
            <a:ext cx="5257800" cy="2148840"/>
          </a:xfrm>
          <a:prstGeom prst="roundRect">
            <a:avLst>
              <a:gd name="adj" fmla="val 3830"/>
            </a:avLst>
          </a:prstGeom>
          <a:solidFill>
            <a:srgbClr val="F4F6F8"/>
          </a:solidFill>
          <a:ln/>
          <a:effectLst>
            <a:outerShdw sx="100000" sy="100000" kx="0" ky="0" algn="bl" rotWithShape="0" blurRad="76200" dist="25400" dir="5400000">
              <a:srgbClr val="999999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92240" y="19202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 Model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92240" y="2395728"/>
            <a:ext cx="4800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learning is the backbone; teachers provide support as needed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4160520"/>
            <a:ext cx="5257800" cy="2148840"/>
          </a:xfrm>
          <a:prstGeom prst="roundRect">
            <a:avLst>
              <a:gd name="adj" fmla="val 3830"/>
            </a:avLst>
          </a:prstGeom>
          <a:solidFill>
            <a:srgbClr val="F4F6F8"/>
          </a:solidFill>
          <a:ln/>
          <a:effectLst>
            <a:outerShdw sx="100000" sy="100000" kx="0" ky="0" algn="bl" rotWithShape="0" blurRad="76200" dist="25400" dir="5400000">
              <a:srgbClr val="999999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43434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 Carte Model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4818888"/>
            <a:ext cx="4800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take some courses fully online alongside traditional ones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4160520"/>
            <a:ext cx="5257800" cy="2148840"/>
          </a:xfrm>
          <a:prstGeom prst="roundRect">
            <a:avLst>
              <a:gd name="adj" fmla="val 3830"/>
            </a:avLst>
          </a:prstGeom>
          <a:solidFill>
            <a:srgbClr val="F4F6F8"/>
          </a:solidFill>
          <a:ln/>
          <a:effectLst>
            <a:outerShdw sx="100000" sy="100000" kx="0" ky="0" algn="bl" rotWithShape="0" blurRad="76200" dist="25400" dir="5400000">
              <a:srgbClr val="999999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92240" y="43434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Enriched Virtual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4818888"/>
            <a:ext cx="4800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Whole-course blend, with required face-to-face sessions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Pedagogy and Assessment in Blended Learning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185855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Spotlight: The Flipped Classroom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3383280" cy="2377440"/>
          </a:xfrm>
          <a:prstGeom prst="roundRect">
            <a:avLst>
              <a:gd name="adj" fmla="val 3846"/>
            </a:avLst>
          </a:prstGeom>
          <a:solidFill>
            <a:srgbClr val="F4F6F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057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Class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606040"/>
            <a:ext cx="2834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engage with recorded lectures or readings online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041648" y="265176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E7C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343400" y="1828800"/>
            <a:ext cx="3383280" cy="2377440"/>
          </a:xfrm>
          <a:prstGeom prst="roundRect">
            <a:avLst>
              <a:gd name="adj" fmla="val 3846"/>
            </a:avLst>
          </a:prstGeom>
          <a:solidFill>
            <a:srgbClr val="1F2A44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2057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A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Class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17720" y="2606040"/>
            <a:ext cx="2834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time is used for discussion, problem-solving, and practice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44968" y="265176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E7C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046720" y="1828800"/>
            <a:ext cx="3383280" cy="2377440"/>
          </a:xfrm>
          <a:prstGeom prst="roundRect">
            <a:avLst>
              <a:gd name="adj" fmla="val 3846"/>
            </a:avLst>
          </a:prstGeom>
          <a:solidFill>
            <a:srgbClr val="F4F6F8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057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Class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21040" y="2606040"/>
            <a:ext cx="2834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 tasks reinforce and extend understanding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45720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5C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Rationale: shifts lower-order tasks (recall, understanding) outside class, freeing time for higher-order tasks (application, analysis) with peer and teacher support.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Pedagogy and Assessment in Blended Learning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185855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Pedagogical Foundations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of Inquiry (CoI) Framework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429000" cy="1828800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/>
          <a:effectLst>
            <a:outerShdw sx="100000" sy="100000" kx="0" ky="0" algn="bl" rotWithShape="0" blurRad="76200" dist="25400" dir="5400000">
              <a:srgbClr val="999999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3317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Cognitive Presence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80720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Learners construct meaning through sustained reflection and discourse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97680" y="2148840"/>
            <a:ext cx="3429000" cy="1828800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/>
          <a:effectLst>
            <a:outerShdw sx="100000" sy="100000" kx="0" ky="0" algn="bl" rotWithShape="0" blurRad="76200" dist="25400" dir="5400000">
              <a:srgbClr val="999999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26280" y="23317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Presence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26280" y="280720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Learners project themselves as real people in the learning community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55280" y="2148840"/>
            <a:ext cx="3429000" cy="1828800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/>
          <a:effectLst>
            <a:outerShdw sx="100000" sy="100000" kx="0" ky="0" algn="bl" rotWithShape="0" blurRad="76200" dist="25400" dir="5400000">
              <a:srgbClr val="999999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83880" y="23317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Teaching Presence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83880" y="280720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Design, facilitation, and direction of the learning process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42519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Rooted in constructivist and social-constructivist learning theory: knowledge is actively built through experience and social interaction.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Pedagogy and Assessment in Blended Learning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85855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Learner-Centered Pedagogy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3429000" cy="1920240"/>
          </a:xfrm>
          <a:prstGeom prst="roundRect">
            <a:avLst>
              <a:gd name="adj" fmla="val 4286"/>
            </a:avLst>
          </a:prstGeom>
          <a:solidFill>
            <a:srgbClr val="2A3A5C"/>
          </a:solidFill>
          <a:ln/>
          <a:effectLst>
            <a:outerShdw sx="100000" sy="100000" kx="0" ky="0" algn="bl" rotWithShape="0" blurRad="76200" dist="25400" dir="5400000">
              <a:srgbClr val="999999">
                <a:alpha val="2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9202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A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Learning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2395728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D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that require doing, not just receiving information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297680" y="1737360"/>
            <a:ext cx="3429000" cy="1920240"/>
          </a:xfrm>
          <a:prstGeom prst="roundRect">
            <a:avLst>
              <a:gd name="adj" fmla="val 4286"/>
            </a:avLst>
          </a:prstGeom>
          <a:solidFill>
            <a:srgbClr val="2A3A5C"/>
          </a:solidFill>
          <a:ln/>
          <a:effectLst>
            <a:outerShdw sx="100000" sy="100000" kx="0" ky="0" algn="bl" rotWithShape="0" blurRad="76200" dist="25400" dir="5400000">
              <a:srgbClr val="999999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26280" y="19202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A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26280" y="2395728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D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discussion and group work across on/offline spaces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955280" y="1737360"/>
            <a:ext cx="3429000" cy="1920240"/>
          </a:xfrm>
          <a:prstGeom prst="roundRect">
            <a:avLst>
              <a:gd name="adj" fmla="val 4286"/>
            </a:avLst>
          </a:prstGeom>
          <a:solidFill>
            <a:srgbClr val="2A3A5C"/>
          </a:solidFill>
          <a:ln/>
          <a:effectLst>
            <a:outerShdw sx="100000" sy="100000" kx="0" ky="0" algn="bl" rotWithShape="0" blurRad="76200" dist="25400" dir="5400000">
              <a:srgbClr val="999999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183880" y="19202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A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Self-Regulation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83880" y="2395728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D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set goals and monitor their own progress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3429000" cy="1920240"/>
          </a:xfrm>
          <a:prstGeom prst="roundRect">
            <a:avLst>
              <a:gd name="adj" fmla="val 4286"/>
            </a:avLst>
          </a:prstGeom>
          <a:solidFill>
            <a:srgbClr val="2A3A5C"/>
          </a:solidFill>
          <a:ln/>
          <a:effectLst>
            <a:outerShdw sx="100000" sy="100000" kx="0" ky="0" algn="bl" rotWithShape="0" blurRad="76200" dist="25400" dir="5400000">
              <a:srgbClr val="999999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41148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A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4590288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D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and pace adapted to individual learner needs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Pedagogy and Assessment in Blended Learning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185855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Teacher's Evolving Role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5120640" cy="1005840"/>
          </a:xfrm>
          <a:prstGeom prst="roundRect">
            <a:avLst>
              <a:gd name="adj" fmla="val 7273"/>
            </a:avLst>
          </a:prstGeom>
          <a:solidFill>
            <a:srgbClr val="F4F6F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4592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From:  “Sage on the Stage”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0" y="1645920"/>
            <a:ext cx="548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E7C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92240" y="1645920"/>
            <a:ext cx="5074920" cy="1005840"/>
          </a:xfrm>
          <a:prstGeom prst="roundRect">
            <a:avLst>
              <a:gd name="adj" fmla="val 7273"/>
            </a:avLst>
          </a:prstGeom>
          <a:solidFill>
            <a:srgbClr val="1F2A44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0" y="164592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To:  “Guide on the Side”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3429000" cy="1828800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/>
          <a:effectLst>
            <a:outerShdw sx="100000" sy="100000" kx="0" ky="0" algn="bl" rotWithShape="0" blurRad="76200" dist="25400" dir="5400000">
              <a:srgbClr val="999999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32004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7588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 coherent online and face-to-face learning sequences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97680" y="3017520"/>
            <a:ext cx="3429000" cy="1828800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/>
          <a:effectLst>
            <a:outerShdw sx="100000" sy="100000" kx="0" ky="0" algn="bl" rotWithShape="0" blurRad="76200" dist="25400" dir="5400000">
              <a:srgbClr val="999999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26280" y="32004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Facilitator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26280" y="367588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Guides discussion and supports active, applied learning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55280" y="3017520"/>
            <a:ext cx="3429000" cy="1828800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/>
          <a:effectLst>
            <a:outerShdw sx="100000" sy="100000" kx="0" ky="0" algn="bl" rotWithShape="0" blurRad="76200" dist="25400" dir="5400000">
              <a:srgbClr val="999999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183880" y="32004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83880" y="367588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Gives timely, individualized feedback and encouragement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Pedagogy and Assessment in Blended Learning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5855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Supporting Pedagogy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3429000" cy="1600200"/>
          </a:xfrm>
          <a:prstGeom prst="roundRect">
            <a:avLst>
              <a:gd name="adj" fmla="val 5143"/>
            </a:avLst>
          </a:prstGeom>
          <a:solidFill>
            <a:srgbClr val="1F2A44"/>
          </a:solidFill>
          <a:ln/>
          <a:effectLst>
            <a:outerShdw sx="100000" sy="100000" kx="0" ky="0" algn="bl" rotWithShape="0" blurRad="76200" dist="25400" dir="5400000">
              <a:srgbClr val="999999">
                <a:alpha val="2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9202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A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Management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239572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D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Moodle, Google Classroom, Canvas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297680" y="1737360"/>
            <a:ext cx="3429000" cy="1600200"/>
          </a:xfrm>
          <a:prstGeom prst="roundRect">
            <a:avLst>
              <a:gd name="adj" fmla="val 5143"/>
            </a:avLst>
          </a:prstGeom>
          <a:solidFill>
            <a:srgbClr val="1F2A44"/>
          </a:solidFill>
          <a:ln/>
          <a:effectLst>
            <a:outerShdw sx="100000" sy="100000" kx="0" ky="0" algn="bl" rotWithShape="0" blurRad="76200" dist="25400" dir="5400000">
              <a:srgbClr val="999999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26280" y="19202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A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&amp; Conferencing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26280" y="239572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D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Zoom, Google Meet, recorded lectures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955280" y="1737360"/>
            <a:ext cx="3429000" cy="1600200"/>
          </a:xfrm>
          <a:prstGeom prst="roundRect">
            <a:avLst>
              <a:gd name="adj" fmla="val 5143"/>
            </a:avLst>
          </a:prstGeom>
          <a:solidFill>
            <a:srgbClr val="1F2A44"/>
          </a:solidFill>
          <a:ln/>
          <a:effectLst>
            <a:outerShdw sx="100000" sy="100000" kx="0" ky="0" algn="bl" rotWithShape="0" blurRad="76200" dist="25400" dir="5400000">
              <a:srgbClr val="999999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183880" y="19202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A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Collaboration Tools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83880" y="239572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D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Padlet, Google Docs, discussion boards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611880"/>
            <a:ext cx="3429000" cy="1600200"/>
          </a:xfrm>
          <a:prstGeom prst="roundRect">
            <a:avLst>
              <a:gd name="adj" fmla="val 5143"/>
            </a:avLst>
          </a:prstGeom>
          <a:solidFill>
            <a:srgbClr val="1F2A44"/>
          </a:solidFill>
          <a:ln/>
          <a:effectLst>
            <a:outerShdw sx="100000" sy="100000" kx="0" ky="0" algn="bl" rotWithShape="0" blurRad="76200" dist="25400" dir="5400000">
              <a:srgbClr val="999999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37947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A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Content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427024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D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H5P, Kahoot, quizzes and polls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297680" y="3611880"/>
            <a:ext cx="3429000" cy="1600200"/>
          </a:xfrm>
          <a:prstGeom prst="roundRect">
            <a:avLst>
              <a:gd name="adj" fmla="val 5143"/>
            </a:avLst>
          </a:prstGeom>
          <a:solidFill>
            <a:srgbClr val="1F2A44"/>
          </a:solidFill>
          <a:ln/>
          <a:effectLst>
            <a:outerShdw sx="100000" sy="100000" kx="0" ky="0" algn="bl" rotWithShape="0" blurRad="76200" dist="25400" dir="5400000">
              <a:srgbClr val="999999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26280" y="37947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A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E-Portfolios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26280" y="427024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D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work collection and reflection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955280" y="3611880"/>
            <a:ext cx="3429000" cy="1600200"/>
          </a:xfrm>
          <a:prstGeom prst="roundRect">
            <a:avLst>
              <a:gd name="adj" fmla="val 5143"/>
            </a:avLst>
          </a:prstGeom>
          <a:solidFill>
            <a:srgbClr val="1F2A44"/>
          </a:solidFill>
          <a:ln/>
          <a:effectLst>
            <a:outerShdw sx="100000" sy="100000" kx="0" ky="0" algn="bl" rotWithShape="0" blurRad="76200" dist="25400" dir="5400000">
              <a:srgbClr val="999999">
                <a:alpha val="2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183880" y="37947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A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Dashboards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83880" y="427024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D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engagement and progress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Pedagogy and Assessment in Blended Learning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85855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in Blended Learning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9164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must align with learning outcomes and course activities across both online and face-to-face components — this is the principle of constructive alignment.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5257800" cy="2011680"/>
          </a:xfrm>
          <a:prstGeom prst="roundRect">
            <a:avLst>
              <a:gd name="adj" fmla="val 4091"/>
            </a:avLst>
          </a:prstGeom>
          <a:solidFill>
            <a:srgbClr val="F4F6F8"/>
          </a:solidFill>
          <a:ln/>
          <a:effectLst>
            <a:outerShdw sx="100000" sy="100000" kx="0" ky="0" algn="bl" rotWithShape="0" blurRad="76200" dist="25400" dir="5400000">
              <a:srgbClr val="999999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32004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Formative Assessment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3675888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 checks that guide and improve learning as it happens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3017520"/>
            <a:ext cx="5257800" cy="2011680"/>
          </a:xfrm>
          <a:prstGeom prst="roundRect">
            <a:avLst>
              <a:gd name="adj" fmla="val 4091"/>
            </a:avLst>
          </a:prstGeom>
          <a:solidFill>
            <a:srgbClr val="F4F6F8"/>
          </a:solidFill>
          <a:ln/>
          <a:effectLst>
            <a:outerShdw sx="100000" sy="100000" kx="0" ky="0" algn="bl" rotWithShape="0" blurRad="76200" dist="25400" dir="5400000">
              <a:srgbClr val="999999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32004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Summative Assessment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92240" y="3675888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Evaluations of learning at the end of a unit or course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Pedagogy and Assessment in Blended Learning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185855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Formative Assessment Strategies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3429000" cy="1920240"/>
          </a:xfrm>
          <a:prstGeom prst="roundRect">
            <a:avLst>
              <a:gd name="adj" fmla="val 4286"/>
            </a:avLst>
          </a:prstGeom>
          <a:solidFill>
            <a:srgbClr val="F4F6F8"/>
          </a:solidFill>
          <a:ln/>
          <a:effectLst>
            <a:outerShdw sx="100000" sy="100000" kx="0" ky="0" algn="bl" rotWithShape="0" blurRad="76200" dist="25400" dir="5400000">
              <a:srgbClr val="999999">
                <a:alpha val="2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9202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Quizzes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2395728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Low-stakes, auto-graded checks for understanding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297680" y="1737360"/>
            <a:ext cx="3429000" cy="1920240"/>
          </a:xfrm>
          <a:prstGeom prst="roundRect">
            <a:avLst>
              <a:gd name="adj" fmla="val 4286"/>
            </a:avLst>
          </a:prstGeom>
          <a:solidFill>
            <a:srgbClr val="F4F6F8"/>
          </a:solidFill>
          <a:ln/>
          <a:effectLst>
            <a:outerShdw sx="100000" sy="100000" kx="0" ky="0" algn="bl" rotWithShape="0" blurRad="76200" dist="25400" dir="5400000">
              <a:srgbClr val="999999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26280" y="19202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Boards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26280" y="2395728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Asynchronous reflection and peer response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955280" y="1737360"/>
            <a:ext cx="3429000" cy="1920240"/>
          </a:xfrm>
          <a:prstGeom prst="roundRect">
            <a:avLst>
              <a:gd name="adj" fmla="val 4286"/>
            </a:avLst>
          </a:prstGeom>
          <a:solidFill>
            <a:srgbClr val="F4F6F8"/>
          </a:solidFill>
          <a:ln/>
          <a:effectLst>
            <a:outerShdw sx="100000" sy="100000" kx="0" ky="0" algn="bl" rotWithShape="0" blurRad="76200" dist="25400" dir="5400000">
              <a:srgbClr val="999999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183880" y="19202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Polls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83880" y="2395728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checks during face-to-face sessions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3429000" cy="1920240"/>
          </a:xfrm>
          <a:prstGeom prst="roundRect">
            <a:avLst>
              <a:gd name="adj" fmla="val 4286"/>
            </a:avLst>
          </a:prstGeom>
          <a:solidFill>
            <a:srgbClr val="F4F6F8"/>
          </a:solidFill>
          <a:ln/>
          <a:effectLst>
            <a:outerShdw sx="100000" sy="100000" kx="0" ky="0" algn="bl" rotWithShape="0" blurRad="76200" dist="25400" dir="5400000">
              <a:srgbClr val="999999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41148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Review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4590288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feedback between students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Pedagogy and Assessment in Blended Learning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185855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Summative Assessment Strategies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3429000" cy="1920240"/>
          </a:xfrm>
          <a:prstGeom prst="roundRect">
            <a:avLst>
              <a:gd name="adj" fmla="val 4286"/>
            </a:avLst>
          </a:prstGeom>
          <a:solidFill>
            <a:srgbClr val="2A3A5C"/>
          </a:solidFill>
          <a:ln/>
          <a:effectLst>
            <a:outerShdw sx="100000" sy="100000" kx="0" ky="0" algn="bl" rotWithShape="0" blurRad="76200" dist="25400" dir="5400000">
              <a:srgbClr val="999999">
                <a:alpha val="2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9202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A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E-Portfolios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2395728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D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Curated collection of work showing growth over time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297680" y="1737360"/>
            <a:ext cx="3429000" cy="1920240"/>
          </a:xfrm>
          <a:prstGeom prst="roundRect">
            <a:avLst>
              <a:gd name="adj" fmla="val 4286"/>
            </a:avLst>
          </a:prstGeom>
          <a:solidFill>
            <a:srgbClr val="2A3A5C"/>
          </a:solidFill>
          <a:ln/>
          <a:effectLst>
            <a:outerShdw sx="100000" sy="100000" kx="0" ky="0" algn="bl" rotWithShape="0" blurRad="76200" dist="25400" dir="5400000">
              <a:srgbClr val="999999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26280" y="19202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A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&amp; Capstones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26280" y="2395728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D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tasks demonstrating integrated skills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955280" y="1737360"/>
            <a:ext cx="3429000" cy="1920240"/>
          </a:xfrm>
          <a:prstGeom prst="roundRect">
            <a:avLst>
              <a:gd name="adj" fmla="val 4286"/>
            </a:avLst>
          </a:prstGeom>
          <a:solidFill>
            <a:srgbClr val="2A3A5C"/>
          </a:solidFill>
          <a:ln/>
          <a:effectLst>
            <a:outerShdw sx="100000" sy="100000" kx="0" ky="0" algn="bl" rotWithShape="0" blurRad="76200" dist="25400" dir="5400000">
              <a:srgbClr val="999999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183880" y="19202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A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Exams (Open/Proctored)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83880" y="2395728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D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or in-person tests of course outcomes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3429000" cy="1920240"/>
          </a:xfrm>
          <a:prstGeom prst="roundRect">
            <a:avLst>
              <a:gd name="adj" fmla="val 4286"/>
            </a:avLst>
          </a:prstGeom>
          <a:solidFill>
            <a:srgbClr val="2A3A5C"/>
          </a:solidFill>
          <a:ln/>
          <a:effectLst>
            <a:outerShdw sx="100000" sy="100000" kx="0" ky="0" algn="bl" rotWithShape="0" blurRad="76200" dist="25400" dir="5400000">
              <a:srgbClr val="999999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41148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A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4590288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D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Oral or recorded demonstration of learning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Pedagogy and Assessment in Blended Learning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185855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in Blended Assessment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52578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9202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Integrity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2395728"/>
            <a:ext cx="4800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Verifying identity and preventing dishonesty online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263640" y="1737360"/>
            <a:ext cx="52578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19202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Equity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92240" y="2395728"/>
            <a:ext cx="4800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Unequal access to devices and reliable internet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4160520"/>
            <a:ext cx="52578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3434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Timeliness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4818888"/>
            <a:ext cx="4800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Providing prompt, meaningful feedback at scale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4160520"/>
            <a:ext cx="52578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43434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Workload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4818888"/>
            <a:ext cx="4800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Designing and managing dual-mode assessment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Pedagogy and Assessment in Blended Learning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185855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103120"/>
            <a:ext cx="5669280" cy="5669280"/>
          </a:xfrm>
          <a:prstGeom prst="ellipse">
            <a:avLst/>
          </a:prstGeom>
          <a:solidFill>
            <a:srgbClr val="3E7CB1">
              <a:alpha val="13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 &amp; 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01368"/>
            <a:ext cx="347472" cy="347472"/>
          </a:xfrm>
          <a:prstGeom prst="ellipse">
            <a:avLst/>
          </a:prstGeom>
          <a:solidFill>
            <a:srgbClr val="E0A03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01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7830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 learning objectives, activities, and assessment (constructive alignment)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578608"/>
            <a:ext cx="347472" cy="347472"/>
          </a:xfrm>
          <a:prstGeom prst="ellipse">
            <a:avLst/>
          </a:prstGeom>
          <a:solidFill>
            <a:srgbClr val="E0A03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78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256032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mix of formative and summative assessment types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355848"/>
            <a:ext cx="347472" cy="347472"/>
          </a:xfrm>
          <a:prstGeom prst="ellipse">
            <a:avLst/>
          </a:prstGeom>
          <a:solidFill>
            <a:srgbClr val="E0A03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355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333756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timely, specific feedback across both learning modes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133088"/>
            <a:ext cx="347472" cy="347472"/>
          </a:xfrm>
          <a:prstGeom prst="ellipse">
            <a:avLst/>
          </a:prstGeom>
          <a:solidFill>
            <a:srgbClr val="E0A03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133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411480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with equity and accessibility in mind from the start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52120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A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Pedagogy and Assessment in Blended Learning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5855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2026-08-14T04:06:21Z</dcterms:created>
  <dcterms:modified xsi:type="dcterms:W3CDTF">2026-08-14T04:06:21Z</dcterms:modified>
</cp:coreProperties>
</file>